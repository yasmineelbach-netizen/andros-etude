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274320"/>
            <a:ext cx="164592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  <a:latin typeface="Calibri"/>
              </a:rPr>
              <a:t>INB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INSTITUT NICOLAS BARRÉ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ARMENTIÈRES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0292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OPTIMISATION DU PROCESSUS
JOB DATING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66666"/>
                </a:solidFill>
                <a:latin typeface="Calibri"/>
              </a:rPr>
              <a:t>Entreprises / Alternants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36576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776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Analyse &amp; Démarche d'Amélioration Continue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Processus Pilote — Référentiel événements INB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2024 –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Mastère Management en Stratégie d'Entreprises
et Développement Commercial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713232"/>
            <a:ext cx="10972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78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005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Contexte &amp; Enjeux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618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Présentation de l'Institut Nicolas Barré et du projet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40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Processus Actuel (AS-IS)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963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Description et cartographie du processus existant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47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74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Dysfonctionnements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7307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Identification et analyse des problèmes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81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09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Analyse des Causes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9651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Diagramme Ishikawa et méthode des 5 Pourquoi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005840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978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1005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Recommandations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2618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Améliorations proposées et plan d'action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240280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240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Processus Cible (TO-BE)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4963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Nouveau processus optimisé et cartographie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474720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447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474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KPI &amp; Tableau de bord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7307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Indicateurs de performance et suivi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709160"/>
            <a:ext cx="4572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681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709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Gains Attendus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9651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Calibri"/>
              </a:rPr>
              <a:t>Comparatif et bénéfices de la transformation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6019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CONTEXTE &amp; ENJEUX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Institut Nicolas Barré — Présentation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4389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005840"/>
            <a:ext cx="16459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Établissement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3533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Institut de formation supérieure (Armentières)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94560"/>
            <a:ext cx="4389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194560"/>
            <a:ext cx="16459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286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Programme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5420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Mastère Management en Stratégie d'Entreprises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83280"/>
            <a:ext cx="4389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16459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74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Spécialité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7307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Développement Commercial &amp; Alternance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72000"/>
            <a:ext cx="4389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72000"/>
            <a:ext cx="16459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663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Événements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9194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Job Dating, Portes Ouvertes, Forums, Rencontres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960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Problématique &amp; Enjeux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1325880"/>
            <a:ext cx="9144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14630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  <a:latin typeface="Calibri"/>
              </a:rPr>
              <a:t>Aucun processus standardisé n'existe pour organiser les événements de l'Institut. Chaque édition dépend des personnes impliquées, des délais et des contraintes du moment.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2194560"/>
            <a:ext cx="54864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2212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Pertes de temps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2487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Organisation chronophage et répétitive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3154680"/>
            <a:ext cx="54864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3172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Risques d'oublis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3447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Tâches critiques sans support documenté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4114800"/>
            <a:ext cx="54864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9320" y="4133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Manque de visibilité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4074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Impossible de savoir l'état d'avancement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5074920"/>
            <a:ext cx="54864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5093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Dépendance aux personnes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5367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Processus non transmissible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5989320"/>
            <a:ext cx="59436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6035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Objectif : Créer un processus standard réutilisable pour tous les futurs événements.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OBJECTIFS DE L'ÉTUDE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Six axes d'amélioration identifiés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4114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97840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0424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Cartographier le processus actuel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716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Documenter et visualiser chaque étape de l'organisation d'un Job Dating de manière précise et exhaustive.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14600"/>
            <a:ext cx="53035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1576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779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Identifier les dysfonctionnements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089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Analyser les sources de pertes de temps, d'oublis et de risques opérationnels dans le processus existant.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53035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480560"/>
            <a:ext cx="4114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5312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171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Analyser les causes profondes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463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Appliquer les méthodes Ishikawa et 5 Pourquoi pour comprendre les causes racines.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005840"/>
            <a:ext cx="4114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97840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10424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Proposer un processus standardisé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3716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Concevoir un processus cible optimisé, accompagné d'outils de suivi, de check-lists et d'un rétroplanning.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514600"/>
            <a:ext cx="53035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743200"/>
            <a:ext cx="4114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71576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779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Définir des indicateurs de 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1089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Mettre en place des KPIs permettant de mesurer et piloter la performance des événements futurs.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251960"/>
            <a:ext cx="53035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480560"/>
            <a:ext cx="4114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45312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5171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Assurer la transmissibilité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8463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Créer un référentiel documentaire permettant à tout collaborateur de s'approprier le processus.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15000" y="1005840"/>
            <a:ext cx="13716" cy="53035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PROCESSUS ACTUEL — DESCRIPTION (AS-IS)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Vue d'ensemble des étapes du Job Dating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17830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005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Calibri"/>
              </a:rPr>
              <a:t>INITIALISATION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71907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Définition de la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2316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42316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58775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Validation par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10789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7168" y="1005840"/>
            <a:ext cx="17830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1005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Calibri"/>
              </a:rPr>
              <a:t>ENTREPRISES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155448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87168" y="155448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171907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Recherche entreprises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242316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87168" y="242316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258775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Prise de contact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7168" y="329184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87168" y="329184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45643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Relances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87168" y="416052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87168" y="416052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432511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Confirmation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10789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25696" y="1005840"/>
            <a:ext cx="17830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25696" y="1005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Calibri"/>
              </a:rPr>
              <a:t>CANDIDATS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25696" y="155448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25696" y="155448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0288" y="171907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Recherche candidats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25696" y="242316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25696" y="242316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90288" y="258775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Collecte des CV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25696" y="329184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25696" y="329184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90288" y="345643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Transmission aux entreprises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8776" y="10789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  <a:latin typeface="Calibri"/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64224" y="1005840"/>
            <a:ext cx="17830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1005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Calibri"/>
              </a:rPr>
              <a:t>LOGISTIQUE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64224" y="155448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64224" y="155448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28816" y="171907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Préparation des salles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64224" y="242316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64224" y="242316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28816" y="258775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Signalétique &amp; badges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64224" y="329184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64224" y="329184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28816" y="345643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Communication interne/externe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47304" y="10789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  <a:latin typeface="Calibri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02752" y="1005840"/>
            <a:ext cx="17830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02752" y="1005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Calibri"/>
              </a:rPr>
              <a:t>RÉALISATION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02752" y="155448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302752" y="155448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67344" y="171907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Accueil participants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02752" y="242316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02752" y="242316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67344" y="258775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Déroulement Job Dating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02752" y="329184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02752" y="329184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67344" y="345643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Collecte retours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85832" y="10789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E0E0"/>
                </a:solidFill>
                <a:latin typeface="Calibri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241280" y="1005840"/>
            <a:ext cx="17830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41280" y="1005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Calibri"/>
              </a:rPr>
              <a:t>BILAN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41280" y="155448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241280" y="155448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05872" y="171907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Suivi des recrutements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41280" y="2423160"/>
            <a:ext cx="17830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241280" y="2423160"/>
            <a:ext cx="73152" cy="685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405872" y="258775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Analyse des résultats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6263640"/>
            <a:ext cx="1115568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0080" y="62910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66666"/>
                </a:solidFill>
                <a:latin typeface="Calibri"/>
              </a:rPr>
              <a:t>⚠  Processus non standardisé — Pratiques variables selon les personnes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CARTOGRAPHIE SWIMLANE — PROCESSUS ACTUEL (AS-IS)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Représentation par acteurs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950976"/>
            <a:ext cx="16459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950976"/>
            <a:ext cx="7315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2344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Direction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950976"/>
            <a:ext cx="98755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7400" y="950976"/>
            <a:ext cx="98755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1938528"/>
            <a:ext cx="16459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938528"/>
            <a:ext cx="7315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22199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Pôle Alternance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1938528"/>
            <a:ext cx="98755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57400" y="1938528"/>
            <a:ext cx="98755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926080"/>
            <a:ext cx="16459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926080"/>
            <a:ext cx="7315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20954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Administration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2926080"/>
            <a:ext cx="98755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57400" y="2926080"/>
            <a:ext cx="98755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913632"/>
            <a:ext cx="16459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913632"/>
            <a:ext cx="7315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19709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Entreprises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3913632"/>
            <a:ext cx="98755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57400" y="3913632"/>
            <a:ext cx="98755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01184"/>
            <a:ext cx="16459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901184"/>
            <a:ext cx="7315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18464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Étudiants / Candidats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4901184"/>
            <a:ext cx="98755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57400" y="4901184"/>
            <a:ext cx="98755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94560" y="1051560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94560" y="1051560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31136" y="1097280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Validation
date &amp; budget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98480" y="1051560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98480" y="1051560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35056" y="1097280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REX &amp;
amélioration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2039112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34640" y="2039112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71216" y="2084832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Besoin JD
identifié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2039112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0" y="2039112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51376" y="2084832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Recherche
entreprises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2039112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0" y="2039112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22976" y="2084832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Relances
manuelles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2039112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66560" y="2039112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03136" y="2084832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Collecte CV
(mail/papier)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6720" y="2039112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46720" y="2039112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83296" y="2084832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Transmission
CV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6880" y="2039112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6880" y="2039112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63456" y="2084832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Collecte
retours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15600" y="2039112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515600" y="2039112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52176" y="2084832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Suivi
recrutements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0" y="3026664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686800" y="3026664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23376" y="3072384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Prépa.
logistique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46320" y="4014216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846320" y="4014216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82896" y="4059936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Réception
demande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0" y="4014216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43600" y="4014216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80176" y="4059936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Confirmation
partielle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4014216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412480" y="4014216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49056" y="4059936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Entretiens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0" y="5001768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0" y="5001768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37376" y="5047488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Candidature
(mail/oral)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12480" y="5001768"/>
            <a:ext cx="960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12480" y="5001768"/>
            <a:ext cx="960120" cy="658368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49056" y="5047488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1A1A"/>
                </a:solidFill>
                <a:latin typeface="Calibri"/>
              </a:rPr>
              <a:t>Entretiens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" y="6035040"/>
            <a:ext cx="1161288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60624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66666"/>
                </a:solidFill>
                <a:latin typeface="Calibri"/>
              </a:rPr>
              <a:t>⚠  PROCESSUS NON STANDARDISÉ — Pratiques variables selon les personnes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6364224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66666"/>
                </a:solidFill>
                <a:latin typeface="Calibri"/>
              </a:rPr>
              <a:t>→ Cartographie détaillée disponible sur MIRO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ANALYSE DES DYSFONCTIONNEMENTS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6 dysfonctionnements majeurs identifiés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356616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005840"/>
            <a:ext cx="356616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1430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D1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170432"/>
            <a:ext cx="105156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17043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Impact : Élevé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Absence de calendrier standard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0116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Préparation aléatoire → oublis de tâches critiques, stress organisationnel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1005840"/>
            <a:ext cx="356616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07408" y="1005840"/>
            <a:ext cx="356616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11430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D2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1170432"/>
            <a:ext cx="105156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117043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Impact : Élevé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Responsabilités non définies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20116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Tâches doublées ou oubliées : relances, CV, badges → confusion et retards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6176" y="1005840"/>
            <a:ext cx="356616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66176" y="1005840"/>
            <a:ext cx="3566160" cy="7315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6" y="11430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D3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43616" y="1170432"/>
            <a:ext cx="105156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43616" y="117043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Impact : Moyen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Suivi entreprises non centralisé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6" y="20116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Données dispersées (mails, Excel, notes) → perte d'info, relances inutiles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66160"/>
            <a:ext cx="356616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566160"/>
            <a:ext cx="3566160" cy="7315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7033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D4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3730752"/>
            <a:ext cx="105156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373075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Impact : Moyen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Gestion candidats peu automatisée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5720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CV reçus par canaux multiples → risques d'erreur et de doublons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07408" y="3566160"/>
            <a:ext cx="356616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07408" y="3566160"/>
            <a:ext cx="3566160" cy="7315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44568" y="37033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D5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84848" y="3730752"/>
            <a:ext cx="105156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84848" y="373075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Impact : Moyen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Absence d'indicateurs de performance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44568" y="45720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Impossible de mesurer taux de participation ou de recrutement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66176" y="3566160"/>
            <a:ext cx="356616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66176" y="3566160"/>
            <a:ext cx="356616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03336" y="37033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D6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43616" y="3730752"/>
            <a:ext cx="105156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43616" y="373075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Impact : Élevé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03336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Dépendance aux connaissances individuelles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03336" y="45720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Processus non transmissible → risque fort en cas de changement d'équipe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DIAGRAMME D'ISHIKAWA — ANALYSE DES CAUSES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Identification des causes racines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2834640"/>
            <a:ext cx="2286000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9260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ORGANISATION
INEFFICACE
DU JOB DATING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364992"/>
            <a:ext cx="822960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640080"/>
            <a:ext cx="210312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640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Calibri"/>
              </a:rPr>
              <a:t>MÉTHODES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10058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Aucun processus formalisé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13898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Absence de check-list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17739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Pas de rétroplanning standard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640080"/>
            <a:ext cx="210312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640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Calibri"/>
              </a:rPr>
              <a:t>MAIN D'ŒUVRE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10058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Dépendance individuelle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3898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Turnover équipe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17739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Manque de formation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640080"/>
            <a:ext cx="210312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640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Calibri"/>
              </a:rPr>
              <a:t>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0058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Pas de standard commun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3898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Absence de supervision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7739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Pas de validation formelle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5852160"/>
            <a:ext cx="210312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5852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Calibri"/>
              </a:rPr>
              <a:t>OUTILS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626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Excel non partagé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0109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Pas d'outil collaboratif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394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Outils disparates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852160"/>
            <a:ext cx="210312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0" y="5852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Calibri"/>
              </a:rPr>
              <a:t>MESURE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626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Aucun KPI défini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0109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Pas de bilan post-event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394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Pas de dashboard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852160"/>
            <a:ext cx="210312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852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Calibri"/>
              </a:rPr>
              <a:t>MILIEU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626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Communication tardive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0109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Salles non réservées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394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Calibri"/>
              </a:rPr>
              <a:t>• Délais insuffisants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MÉTHODE DES 5 POURQUOI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Analyse des causes racines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Problème 1 : Tâches oubliées lors des événements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280160"/>
            <a:ext cx="109728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463040"/>
            <a:ext cx="50292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463040"/>
            <a:ext cx="457200" cy="5943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4630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6002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Des tâches sont oubliées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05740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377440"/>
            <a:ext cx="475488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377440"/>
            <a:ext cx="457200" cy="5943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774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514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Il n'existe pas de check-list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97180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91840"/>
            <a:ext cx="44805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291840"/>
            <a:ext cx="457200" cy="5943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918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P3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4290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Aucun outil standard n'a été créé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88620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06240"/>
            <a:ext cx="420624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206240"/>
            <a:ext cx="457200" cy="5943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2062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P4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3434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La responsabilité n'est pas assignée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80060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120640"/>
            <a:ext cx="393192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120640"/>
            <a:ext cx="45720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1206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P5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2578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Aucun processus formalisé n'existe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Problème 2 : Manque de visibilité sur l'avancement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1280160"/>
            <a:ext cx="109728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1463040"/>
            <a:ext cx="50292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1463040"/>
            <a:ext cx="457200" cy="5943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4630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P1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16002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Personne ne sait où en est l'organisation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205740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377440"/>
            <a:ext cx="475488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2377440"/>
            <a:ext cx="457200" cy="5943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23774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P2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2514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Il n'y a pas d'outil de suivi partagé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297180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291840"/>
            <a:ext cx="44805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3291840"/>
            <a:ext cx="457200" cy="5943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2918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P3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34290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Les informations restent en silos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388620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206240"/>
            <a:ext cx="420624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0" y="4206240"/>
            <a:ext cx="457200" cy="5943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42062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P4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43434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Pas de tableau de bord centralisé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7960" y="480060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5120640"/>
            <a:ext cx="393192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00800" y="5120640"/>
            <a:ext cx="45720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0" y="51206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P5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52578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Aucune culture de partage de l'information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0" y="914400"/>
            <a:ext cx="13716" cy="56692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6172200"/>
            <a:ext cx="112471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199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Cause racine identifiée : Absence totale de processus formalisé et de culture de standardisation au sein de l'Institut.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RECOMMANDATIONS D'AMÉLIORATION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5 actions prioritaires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51560"/>
            <a:ext cx="502920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070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A1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05156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Processus standard unique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417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Formaliser un mode opératoire documenté applicable à tous les événements.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188720"/>
            <a:ext cx="164592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  <a:latin typeface="Calibri"/>
              </a:rPr>
              <a:t>Difficulté : Facile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1188720"/>
            <a:ext cx="137160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188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Calibri"/>
              </a:rPr>
              <a:t>Gain : Élevé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011680"/>
            <a:ext cx="1115568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148840"/>
            <a:ext cx="502920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3042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A2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14884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Rétroplanning systématique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2514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Calendrier type J-60 à J+7 automatiquement appliqué dès validation de l'événement.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2286000"/>
            <a:ext cx="164592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2286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  <a:latin typeface="Calibri"/>
              </a:rPr>
              <a:t>Difficulté : Facile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2286000"/>
            <a:ext cx="137160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Calibri"/>
              </a:rPr>
              <a:t>Gain : Élevé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108960"/>
            <a:ext cx="1115568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246120"/>
            <a:ext cx="502920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015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A3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2461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Tableau de suivi centralisé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3611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Fichier partagé (entreprises, contacts, statuts, CV) accessible par toute l'équipe.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3383280"/>
            <a:ext cx="164592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  <a:latin typeface="Calibri"/>
              </a:rPr>
              <a:t>Difficulté : Moyen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3383280"/>
            <a:ext cx="137160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Calibri"/>
              </a:rPr>
              <a:t>Gain : Élevé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206240"/>
            <a:ext cx="1115568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343400"/>
            <a:ext cx="502920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4988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A4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43434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Formulaire candidature unique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709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Microsoft Forms / Google Forms pour centraliser les candidatures automatiquement.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480560"/>
            <a:ext cx="164592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79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  <a:latin typeface="Calibri"/>
              </a:rPr>
              <a:t>Difficulté : Facile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4480560"/>
            <a:ext cx="137160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Calibri"/>
              </a:rPr>
              <a:t>Gain : Moyen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303520"/>
            <a:ext cx="1115568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440680"/>
            <a:ext cx="502920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5961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A5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54406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KPIs &amp; tableau de bord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34440" y="5806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Indicateurs définis et mesurés après chaque événement pour amélioration continue.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79" y="5577840"/>
            <a:ext cx="164592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79" y="5577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66"/>
                </a:solidFill>
                <a:latin typeface="Calibri"/>
              </a:rPr>
              <a:t>Difficulté : Moyen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5577840"/>
            <a:ext cx="137160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Calibri"/>
              </a:rPr>
              <a:t>Gain : Élevé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RÉTROPLANNING STANDARD — PROCESSUS 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De J-60 à J+7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960120"/>
            <a:ext cx="2148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960120"/>
            <a:ext cx="214884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0698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J − 60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5087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Validation de la date et du format de l'événement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66666"/>
                </a:solidFill>
                <a:latin typeface="Calibri"/>
              </a:rPr>
              <a:t>Resp. : Direction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960120"/>
            <a:ext cx="2148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0360" y="960120"/>
            <a:ext cx="214884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10698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J − 50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15087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Lancement de la recherche entreprises partenaires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66666"/>
                </a:solidFill>
                <a:latin typeface="Calibri"/>
              </a:rPr>
              <a:t>Resp. : Pôle Alternance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960120"/>
            <a:ext cx="2148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12080" y="960120"/>
            <a:ext cx="214884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0698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J − 40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15087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Premiers contacts entreprises — envoi dossier de présentation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66666"/>
                </a:solidFill>
                <a:latin typeface="Calibri"/>
              </a:rPr>
              <a:t>Resp. : Pôle Alternance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960120"/>
            <a:ext cx="2148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43800" y="960120"/>
            <a:ext cx="214884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10698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J − 30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15087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Confirmation des entreprises participantes — recueil des besoins RH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66666"/>
                </a:solidFill>
                <a:latin typeface="Calibri"/>
              </a:rPr>
              <a:t>Resp. : Pôle Alternance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960120"/>
            <a:ext cx="2148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0" y="960120"/>
            <a:ext cx="214884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10698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J − 20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15087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Ouverture des inscriptions candidats via formulaire unique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743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66666"/>
                </a:solidFill>
                <a:latin typeface="Calibri"/>
              </a:rPr>
              <a:t>Resp. : Pôle Alternance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566160"/>
            <a:ext cx="2148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566160"/>
            <a:ext cx="214884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6758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J − 15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1148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Communication externe (réseaux, mailing) et interne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349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66666"/>
                </a:solidFill>
                <a:latin typeface="Calibri"/>
              </a:rPr>
              <a:t>Resp. : Administration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0360" y="3566160"/>
            <a:ext cx="2148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360" y="3566160"/>
            <a:ext cx="214884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71800" y="36758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J − 10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41148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Transmission des CV qualifiés aux entreprises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1800" y="5349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66666"/>
                </a:solidFill>
                <a:latin typeface="Calibri"/>
              </a:rPr>
              <a:t>Resp. : Pôle Alternance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12080" y="3566160"/>
            <a:ext cx="2148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12080" y="3566160"/>
            <a:ext cx="214884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0" y="36758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J − 5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41148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Validation logistique (salles, badges, signalétique, planning)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5349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66666"/>
                </a:solidFill>
                <a:latin typeface="Calibri"/>
              </a:rPr>
              <a:t>Resp. : Administration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43800" y="3566160"/>
            <a:ext cx="2148840" cy="2286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43800" y="3566160"/>
            <a:ext cx="21488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35240" y="36758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J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41148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Réalisation du Job Dating — accueil et coordination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5349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66666"/>
                </a:solidFill>
                <a:latin typeface="Calibri"/>
              </a:rPr>
              <a:t>Resp. : Toute l'équipe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75520" y="3566160"/>
            <a:ext cx="2148840" cy="2286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75520" y="3566160"/>
            <a:ext cx="214884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66960" y="36758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J + 7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66960" y="41148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Bilan — questionnaire satisfaction — mise à jour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5349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66666"/>
                </a:solidFill>
                <a:latin typeface="Calibri"/>
              </a:rPr>
              <a:t>Resp. : Pôle Alternance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CARTOGRAPHIE SWIMLANE — PROCESSUS CIBLE (TO-BE)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Représentation optimisée par acteurs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950976"/>
            <a:ext cx="16459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950976"/>
            <a:ext cx="7315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2344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Direction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950976"/>
            <a:ext cx="98755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7400" y="950976"/>
            <a:ext cx="98755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1938528"/>
            <a:ext cx="16459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938528"/>
            <a:ext cx="7315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22199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Pôle Alternance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1938528"/>
            <a:ext cx="98755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57400" y="1938528"/>
            <a:ext cx="98755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926080"/>
            <a:ext cx="16459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926080"/>
            <a:ext cx="7315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20954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Administration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2926080"/>
            <a:ext cx="98755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57400" y="2926080"/>
            <a:ext cx="98755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913632"/>
            <a:ext cx="16459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913632"/>
            <a:ext cx="7315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19709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Entreprises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3913632"/>
            <a:ext cx="98755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57400" y="3913632"/>
            <a:ext cx="98755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01184"/>
            <a:ext cx="16459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901184"/>
            <a:ext cx="7315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18464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Calibri"/>
              </a:rPr>
              <a:t>Étudiants / Candidats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4901184"/>
            <a:ext cx="98755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57400" y="4901184"/>
            <a:ext cx="98755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94560" y="1051560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31136" y="1097280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Demande
événement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1051560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28416" y="1097280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Validation
&amp; Budget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07040" y="1051560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43616" y="1097280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REX &amp;
amélioration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2039112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5696" y="2084832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Création
rétroplanning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2039112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22976" y="2084832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Prospection
ciblée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2039112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94576" y="2084832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Qualification
CV auto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2039112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74736" y="2084832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Envoi CV
centralisé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2039112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63456" y="2084832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KPI
dashboard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3026664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54496" y="3072384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Logistique
check-list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78240" y="3026664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14816" y="3072384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Satisfaction
(auto-form)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60" y="4014216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74336" y="4059936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Formulaire
partenaire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4014216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63056" y="4059936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Confirmation
+ besoins RH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0" y="4014216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26096" y="4059936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Job Dating
(optimisé)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5001768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37376" y="5047488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Inscription
forms unique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0" y="5001768"/>
            <a:ext cx="960120" cy="6583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26096" y="5047488"/>
            <a:ext cx="8869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1A"/>
                </a:solidFill>
                <a:latin typeface="Calibri"/>
              </a:rPr>
              <a:t>Entretiens
structurés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6035040"/>
            <a:ext cx="1161288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60624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Calibri"/>
              </a:rPr>
              <a:t>PROCESSUS STANDARDISÉ — Check-lists, Rétroplanning, KPIs, Outils partagés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364224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66666"/>
                </a:solidFill>
                <a:latin typeface="Calibri"/>
              </a:rPr>
              <a:t>→ Cartographie détaillée disponible sur MIRO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COMPARATIF AVANT / APRÈS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Transformation du processus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960120"/>
            <a:ext cx="320040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960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Critère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960120"/>
            <a:ext cx="3657600" cy="4114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960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AVANT (AS-IS)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960120"/>
            <a:ext cx="411480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APRÈS (TO-BE)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417320"/>
            <a:ext cx="11247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5819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Processus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Variable selon les personnes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554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Processus standardisé unique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67160" y="15819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121408"/>
            <a:ext cx="112471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2860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Risque d'oubli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22585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Élevé — aucune check-list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2585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Faible — check-list systématique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67160" y="22860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825496"/>
            <a:ext cx="11247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9900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Suivi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29626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Dispersé (mails, Excel, oral)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96265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Base centralisée et partagée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67160" y="29900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29584"/>
            <a:ext cx="112471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69417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Gestion candidats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36667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Manuelle et multi-canaux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6667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Formulaire unique automatisé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67160" y="36941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233672"/>
            <a:ext cx="11247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39826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Visibilité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43708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Nulle — aucun tableau de bord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3708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Dashboard KPI en temps réel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67160" y="43982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937760"/>
            <a:ext cx="112471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1023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Pilotage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77639" y="5074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Aucun KPI défini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5074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KPIs mesurés après chaque event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67160" y="51023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641848"/>
            <a:ext cx="11247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8064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Transmissibilité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77639" y="57790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Dépendance totale aux personnes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779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Processus documenté &amp; transmissible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67160" y="5806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KPI — INDICATEURS DE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Mesurer pour améliorer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960120"/>
            <a:ext cx="356616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9601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KPI Entreprises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463040"/>
            <a:ext cx="35661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463040"/>
            <a:ext cx="35661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5727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Entreprises contactées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011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&gt; 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97480"/>
            <a:ext cx="35661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97480"/>
            <a:ext cx="35661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8072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Taux de réponse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246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&gt; 60%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35661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35661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0416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Taux de participation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80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&gt; 80%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35661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166360"/>
            <a:ext cx="35661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760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Partenaires fidélisés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15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&gt; 50%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960120"/>
            <a:ext cx="356616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7408" y="9601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KPI Candidats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1463040"/>
            <a:ext cx="35661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8" y="1463040"/>
            <a:ext cx="35661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4568" y="15727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Candidats inscrits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2011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&gt; 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07408" y="2697480"/>
            <a:ext cx="35661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07408" y="2697480"/>
            <a:ext cx="35661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44568" y="28072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Taux de présence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568" y="3246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&gt; 85%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07408" y="3931920"/>
            <a:ext cx="35661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07408" y="3931920"/>
            <a:ext cx="35661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44568" y="40416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Entretiens réalisés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44568" y="4480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&gt; 60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07408" y="5166360"/>
            <a:ext cx="35661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07408" y="5166360"/>
            <a:ext cx="35661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44568" y="52760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Taux de préparation CV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44568" y="5715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100%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66176" y="960120"/>
            <a:ext cx="356616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6176" y="9601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KPI Résultats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66176" y="1463040"/>
            <a:ext cx="35661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66176" y="1463040"/>
            <a:ext cx="35661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03336" y="15727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Contrats signés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03336" y="2011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&gt; 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66176" y="2697480"/>
            <a:ext cx="35661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66176" y="2697480"/>
            <a:ext cx="35661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03336" y="28072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Taux de transformation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03336" y="32461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&gt; 35%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66176" y="3931920"/>
            <a:ext cx="35661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66176" y="3931920"/>
            <a:ext cx="35661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03336" y="40416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Satisfaction entreprises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03336" y="4480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&gt; 4/5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66176" y="5166360"/>
            <a:ext cx="35661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66176" y="5166360"/>
            <a:ext cx="35661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03336" y="52760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Satisfaction candidats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03336" y="5715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&gt; 4/5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PLAN D'ACTION — MISE EN ŒUVRE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7 actions priorisées sur 4 mois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960120"/>
            <a:ext cx="43891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9601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960120"/>
            <a:ext cx="16459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960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Responsable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960120"/>
            <a:ext cx="109728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960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Échéance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960120"/>
            <a:ext cx="11887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960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Priorité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960120"/>
            <a:ext cx="27432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960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Impact attendu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371600"/>
            <a:ext cx="4389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7760" y="1371600"/>
            <a:ext cx="16459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1371600"/>
            <a:ext cx="1097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0960" y="1371600"/>
            <a:ext cx="11887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1371600"/>
            <a:ext cx="2743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1499616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Rédiger le mode opératoire standard du Job Dating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149961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Pôle Alternance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1499616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Mois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536192"/>
            <a:ext cx="1005840" cy="32918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153619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Calibri"/>
              </a:rPr>
              <a:t>Haute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4996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Référentiel unique transmissible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075688"/>
            <a:ext cx="43891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37760" y="2075688"/>
            <a:ext cx="16459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2075688"/>
            <a:ext cx="109728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60" y="2075688"/>
            <a:ext cx="11887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2075688"/>
            <a:ext cx="274320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2203704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Créer le rétroplanning type (J-60 à J+7)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220370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Pôle Alternance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22037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Mois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2240280"/>
            <a:ext cx="1005840" cy="32918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224028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Calibri"/>
              </a:rPr>
              <a:t>Haute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220370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Zéro oubli — planification proactive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2779776"/>
            <a:ext cx="4389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37760" y="2779776"/>
            <a:ext cx="16459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3680" y="2779776"/>
            <a:ext cx="1097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80960" y="2779776"/>
            <a:ext cx="11887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69680" y="2779776"/>
            <a:ext cx="2743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290779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Mettre en place le tableau de suivi entreprises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80" y="29077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Pôle Alternance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29077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Mois 1–2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944368"/>
            <a:ext cx="1005840" cy="32918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294436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Calibri"/>
              </a:rPr>
              <a:t>Haute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400" y="29077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Visibilité complète sur les partenaires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3483864"/>
            <a:ext cx="43891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37760" y="3483864"/>
            <a:ext cx="16459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583680" y="3483864"/>
            <a:ext cx="109728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680960" y="3483864"/>
            <a:ext cx="11887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869680" y="3483864"/>
            <a:ext cx="274320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36118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Créer le formulaire d'inscription candidats unique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83480" y="3611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Pôle Alternance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29400" y="36118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Mois 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0" y="3648456"/>
            <a:ext cx="1005840" cy="32918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0" y="364845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Calibri"/>
              </a:rPr>
              <a:t>Moyenne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15400" y="3611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Base centralisée — gain de temps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187952"/>
            <a:ext cx="4389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937760" y="4187952"/>
            <a:ext cx="16459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83680" y="4187952"/>
            <a:ext cx="1097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680960" y="4187952"/>
            <a:ext cx="11887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69680" y="4187952"/>
            <a:ext cx="2743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431596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Définir et mesurer les KPIs dès le prochain JD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83480" y="43159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Direction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29400" y="431596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Mois 2–3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72400" y="4352544"/>
            <a:ext cx="1005840" cy="32918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0" y="435254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Calibri"/>
              </a:rPr>
              <a:t>Moyenne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15400" y="43159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Pilotage objectif et amélioration continue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4892040"/>
            <a:ext cx="43891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37760" y="4892040"/>
            <a:ext cx="16459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3680" y="4892040"/>
            <a:ext cx="109728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680960" y="4892040"/>
            <a:ext cx="11887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869680" y="4892040"/>
            <a:ext cx="274320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" y="5020056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Former l'équipe aux nouveaux outils et processus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83480" y="502005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Direction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29400" y="5020056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Mois 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72400" y="5056632"/>
            <a:ext cx="1005840" cy="32918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72400" y="505663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Calibri"/>
              </a:rPr>
              <a:t>Moyenne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15400" y="502005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Appropriation et transmissibilité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5596128"/>
            <a:ext cx="4389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937760" y="5596128"/>
            <a:ext cx="16459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583680" y="5596128"/>
            <a:ext cx="10972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80960" y="5596128"/>
            <a:ext cx="11887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869680" y="5596128"/>
            <a:ext cx="2743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4360" y="5724144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Réaliser le premier REX avec le nouveau processus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83480" y="572414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Pôle Alternance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29400" y="572414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Mois 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72400" y="5760720"/>
            <a:ext cx="100584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72400" y="576072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  <a:latin typeface="Calibri"/>
              </a:rPr>
              <a:t>Basse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15400" y="572414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Amélioration continue — itération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GAINS ATTENDUS — BÉNÉFICES DE LA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Impact de la démarche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83680"/>
            <a:ext cx="11274552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— Armentières  •  Mastère MSE  •  2024–2025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96012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960120"/>
            <a:ext cx="26517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097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−70%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de risques d'oublis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860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66666"/>
                </a:solidFill>
                <a:latin typeface="Calibri"/>
              </a:rPr>
              <a:t>Grâce à la check-list systématique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96012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960120"/>
            <a:ext cx="26517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1097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+40%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d'efficacité organisationnelle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2860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66666"/>
                </a:solidFill>
                <a:latin typeface="Calibri"/>
              </a:rPr>
              <a:t>Via le rétroplanning et les responsabilités définies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96012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960120"/>
            <a:ext cx="26517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097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de transmissibilité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66666"/>
                </a:solidFill>
                <a:latin typeface="Calibri"/>
              </a:rPr>
              <a:t>Processus documenté, indépendant des personnes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960120"/>
            <a:ext cx="26517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960120"/>
            <a:ext cx="26517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1097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KPIs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mesurés systématiquement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2860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66666"/>
                </a:solidFill>
                <a:latin typeface="Calibri"/>
              </a:rPr>
              <a:t>Pilotage objectif de chaque événement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BÉNÉFICES QUALITATIFS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639312"/>
            <a:ext cx="13716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749039"/>
            <a:ext cx="539496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749039"/>
            <a:ext cx="73152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85876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Amélioration continue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2062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Chaque événement alimente le référentiel pour les suivants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749039"/>
            <a:ext cx="539496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3749039"/>
            <a:ext cx="73152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385876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Professionnalisation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42062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Image renforcée auprès des entreprises et des étudiants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074919"/>
            <a:ext cx="539496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074919"/>
            <a:ext cx="73152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518464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Meilleure collaboration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5321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Rôles clairs, outil partagé, communication fluide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5074919"/>
            <a:ext cx="539496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5074919"/>
            <a:ext cx="73152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518464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Résultats améliorés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55321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Taux de recrutement et satisfaction en hausse mesurable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713232"/>
            <a:ext cx="1828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  <a:latin typeface="Calibri"/>
              </a:rPr>
              <a:t>Ce projet d'amélioration continue a permis de démontrer qu'une démarche de standardisation des processus événementiels génère des gains significatifs sur l'efficacité organisationnelle, la réduction des risques et la qualité de service.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19072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1907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Un processus standardisé est désormais documenté et transmissible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585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Un rétroplanning type J-60/J+7 structure toutes les étapes clés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52928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2549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52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Des outils partagés centralisent le suivi entreprises et candidats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19856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9242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1985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Des KPIs permettent de mesurer et piloter objectivement chaque événement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86784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5935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98678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La démarche est réplicable à l'ensemble des événements de l'Institut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Perspectives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10912"/>
            <a:ext cx="9144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73152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2212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Extension à tous les événements INB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5166360"/>
            <a:ext cx="73152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7" y="52212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Digitalisation avec un outil dédié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18" y="5166360"/>
            <a:ext cx="73152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6" y="52212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Intégration d'un CRM partenaires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760720"/>
            <a:ext cx="73152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81558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Formation continue des équipes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79" y="5760720"/>
            <a:ext cx="73152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7" y="581558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Évaluation annuelle du processus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537960"/>
            <a:ext cx="1124712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666666"/>
                </a:solidFill>
                <a:latin typeface="Calibri"/>
              </a:rPr>
              <a:t>Institut Nicolas Barré  •  Mastère MSE  •  Démarche d'Amélioration Continue  •  2024–2025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